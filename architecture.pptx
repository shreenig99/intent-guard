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126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firewall sits on the merchant side. Razorpay already proves the payment matches the order; nothing today proves the order still matches what the customer asked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lanes, in order: the customer states an intent, an LLM agent shops, the CORE gate decides, and the EXTENSION rechecks before the money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Intent is captured before the agent touches anything. That record is the one input in the pipeline the merchant page cannot influence.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first, model second. The classifier is one capped input, never the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identity checks before anything else, then the page is read once more and re-hashed.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load-bearing check: proposed price, SKU and quantity against the captured intent. A mismatch is a fact, not a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capture is the second checkpoint. The payment is fetched from Razorpay itself and claimed atomically.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Consistent means capture. Inconsistent means refund, the fallback and never the first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built today, and what is still to come: the Expo app and the merchant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0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AI BUILDATHON 2026 · TRACK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882747"/>
            <a:ext cx="15716250" cy="1139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29"/>
              </a:lnSpc>
              <a:buNone/>
            </a:pPr>
            <a:r>
              <a:rPr lang="en-US" sz="8850" b="1" kern="0" spc="-177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Integrity Firewall</a:t>
            </a:r>
            <a:endParaRPr lang="en-US" sz="8850" dirty="0"/>
          </a:p>
        </p:txBody>
      </p:sp>
      <p:sp>
        <p:nvSpPr>
          <p:cNvPr id="4" name="Text 2"/>
          <p:cNvSpPr/>
          <p:nvPr/>
        </p:nvSpPr>
        <p:spPr>
          <a:xfrm>
            <a:off x="1143000" y="5231845"/>
            <a:ext cx="1216533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58"/>
              </a:lnSpc>
              <a:buNone/>
            </a:pPr>
            <a:r>
              <a:rPr lang="en-US" sz="2550" dirty="0">
                <a:solidFill>
                  <a:srgbClr val="D6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workflow, end to end — from the customer stating an intent to the payment being captured or returned.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8619173"/>
            <a:ext cx="16002000" cy="9525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6" name="Shape 4"/>
          <p:cNvSpPr/>
          <p:nvPr/>
        </p:nvSpPr>
        <p:spPr>
          <a:xfrm>
            <a:off x="4909185" y="8626793"/>
            <a:ext cx="9525" cy="612458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8855393"/>
            <a:ext cx="414280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73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987790" y="8626793"/>
            <a:ext cx="9525" cy="612458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9" name="Text 7"/>
          <p:cNvSpPr/>
          <p:nvPr/>
        </p:nvSpPr>
        <p:spPr>
          <a:xfrm>
            <a:off x="5221605" y="8855393"/>
            <a:ext cx="414280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73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AGENT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3066395" y="8626793"/>
            <a:ext cx="9525" cy="612458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11" name="Text 9"/>
          <p:cNvSpPr/>
          <p:nvPr/>
        </p:nvSpPr>
        <p:spPr>
          <a:xfrm>
            <a:off x="9300210" y="8855393"/>
            <a:ext cx="414280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73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GATE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378815" y="8855393"/>
            <a:ext cx="4142803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273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24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THE SYSTEM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11580"/>
            <a:ext cx="18021300" cy="659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96"/>
              </a:lnSpc>
              <a:buNone/>
            </a:pPr>
            <a:r>
              <a:rPr lang="en-US" sz="4800" b="1" kern="0" spc="-72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lanes, one continuous path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2347674"/>
            <a:ext cx="16383000" cy="9525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5" name="Shape 3"/>
          <p:cNvSpPr/>
          <p:nvPr/>
        </p:nvSpPr>
        <p:spPr>
          <a:xfrm>
            <a:off x="5040630" y="2355294"/>
            <a:ext cx="9525" cy="7169706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774394"/>
            <a:ext cx="40778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52500" y="3479244"/>
            <a:ext cx="4077843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kern="0" spc="153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" y="4152662"/>
            <a:ext cx="3818344" cy="1474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365"/>
              </a:lnSpc>
              <a:buNone/>
            </a:pPr>
            <a:r>
              <a:rPr lang="en-US" sz="195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the product, quantity and maximum price. A capability token is issued against that record and nothing else.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36380" y="2355294"/>
            <a:ext cx="9525" cy="7169706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10" name="Text 8"/>
          <p:cNvSpPr/>
          <p:nvPr/>
        </p:nvSpPr>
        <p:spPr>
          <a:xfrm>
            <a:off x="5429250" y="2774394"/>
            <a:ext cx="36587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429250" y="3479244"/>
            <a:ext cx="3658743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kern="0" spc="153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AGENT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429250" y="4152662"/>
            <a:ext cx="3425914" cy="1474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365"/>
              </a:lnSpc>
              <a:buNone/>
            </a:pPr>
            <a:r>
              <a:rPr lang="en-US" sz="195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browser-use agent reads the merchant page and returns one structured decision: SKU, price, quantity.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232130" y="2355294"/>
            <a:ext cx="9525" cy="7169706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0" y="2774394"/>
            <a:ext cx="36587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525000" y="3479244"/>
            <a:ext cx="3658743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kern="0" spc="153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GATE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525000" y="4152662"/>
            <a:ext cx="3425914" cy="183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365"/>
              </a:lnSpc>
              <a:buNone/>
            </a:pPr>
            <a:r>
              <a:rPr lang="en-US" sz="195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and scores the content, then holds the proposed order against the captured intent before any order is created.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620750" y="2774394"/>
            <a:ext cx="408622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4200" dirty="0">
                <a:solidFill>
                  <a:srgbClr val="598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620750" y="3479244"/>
            <a:ext cx="4086225" cy="540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240"/>
              </a:lnSpc>
              <a:buNone/>
            </a:pPr>
            <a:r>
              <a:rPr lang="en-US" sz="2550" kern="0" spc="153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620750" y="4152662"/>
            <a:ext cx="3826193" cy="1474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365"/>
              </a:lnSpc>
              <a:buNone/>
            </a:pPr>
            <a:r>
              <a:rPr lang="en-US" sz="1950" dirty="0">
                <a:solidFill>
                  <a:srgbClr val="424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Rechecks the order once more at capture time. Refund is the fallback if an inconsistent payment slipped through.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698427"/>
            <a:ext cx="16764000" cy="9525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653219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24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LANES 01 –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2000" y="982980"/>
            <a:ext cx="6532198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200" b="1" kern="0" spc="-63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first, then the agent shops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745784" y="1172647"/>
            <a:ext cx="85641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252" dirty="0">
                <a:solidFill>
                  <a:srgbClr val="7A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34647"/>
            <a:ext cx="16764000" cy="77808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698427"/>
            <a:ext cx="16764000" cy="9525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511878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24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03 · BROWSE-TIME SNAPSHOT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2000" y="982980"/>
            <a:ext cx="5118783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200" b="1" kern="0" spc="-63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Sanitise, score, then hash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744116" y="1172647"/>
            <a:ext cx="85808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252" dirty="0">
                <a:solidFill>
                  <a:srgbClr val="7A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34647"/>
            <a:ext cx="16764000" cy="77808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698427"/>
            <a:ext cx="16764000" cy="9525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646239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24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03 · CHECKOUT DECISION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2000" y="982980"/>
            <a:ext cx="6462391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200" b="1" kern="0" spc="-63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token still allowed to buy?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745545" y="1172647"/>
            <a:ext cx="85665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252" dirty="0">
                <a:solidFill>
                  <a:srgbClr val="7A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34647"/>
            <a:ext cx="16764000" cy="77808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698427"/>
            <a:ext cx="16764000" cy="9525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739122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24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03 · THE LOAD-BEARING CHECK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2000" y="982980"/>
            <a:ext cx="7391221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200" b="1" kern="0" spc="-63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order still match the intent?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745307" y="1172647"/>
            <a:ext cx="856893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252" dirty="0">
                <a:solidFill>
                  <a:srgbClr val="7A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34647"/>
            <a:ext cx="16764000" cy="77808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698427"/>
            <a:ext cx="16764000" cy="9525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605468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24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04 · POST-ORDER CAPTURE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2000" y="982980"/>
            <a:ext cx="6054685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200" b="1" kern="0" spc="-63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Authorise, claim, then recheck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755309" y="1172647"/>
            <a:ext cx="846892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252" dirty="0">
                <a:solidFill>
                  <a:srgbClr val="7A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34647"/>
            <a:ext cx="16764000" cy="77808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698427"/>
            <a:ext cx="16764000" cy="9525"/>
          </a:xfrm>
          <a:prstGeom prst="rect">
            <a:avLst/>
          </a:prstGeom>
          <a:solidFill>
            <a:srgbClr val="94BCE3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5754767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24" dirty="0">
                <a:solidFill>
                  <a:srgbClr val="416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04 · OUTCOME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2000" y="982980"/>
            <a:ext cx="5754767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250"/>
              </a:lnSpc>
              <a:buNone/>
            </a:pPr>
            <a:r>
              <a:rPr lang="en-US" sz="4200" b="1" kern="0" spc="-63" dirty="0">
                <a:solidFill>
                  <a:srgbClr val="1D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Capture, or return the money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742569" y="1172647"/>
            <a:ext cx="859631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252" dirty="0">
                <a:solidFill>
                  <a:srgbClr val="7A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934647"/>
            <a:ext cx="16764000" cy="77808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360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BUILD STANDS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177897"/>
            <a:ext cx="15716250" cy="834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02"/>
              </a:lnSpc>
              <a:buNone/>
            </a:pPr>
            <a:r>
              <a:rPr lang="en-US" sz="6150" b="1" kern="0" spc="-92" dirty="0">
                <a:solidFill>
                  <a:srgbClr val="F2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that holds is deterministic, not the classifier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1143000" y="4298394"/>
            <a:ext cx="13735050" cy="136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889"/>
              </a:lnSpc>
              <a:buNone/>
            </a:pPr>
            <a:r>
              <a:rPr lang="en-US" sz="2400" dirty="0">
                <a:solidFill>
                  <a:srgbClr val="D6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scanning explains why something looked wrong and drives the revalidate nudge. What actually stops a manipulated order is the comparison against the customer’s captured intent — a record the merchant page cannot reach.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7590473"/>
            <a:ext cx="16002000" cy="9525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6" name="Shape 4"/>
          <p:cNvSpPr/>
          <p:nvPr/>
        </p:nvSpPr>
        <p:spPr>
          <a:xfrm>
            <a:off x="9136380" y="7883843"/>
            <a:ext cx="9525" cy="1545908"/>
          </a:xfrm>
          <a:prstGeom prst="rect">
            <a:avLst/>
          </a:prstGeom>
          <a:solidFill>
            <a:srgbClr val="41618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7883843"/>
            <a:ext cx="816406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288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VERIFIED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8352473"/>
            <a:ext cx="7644537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365"/>
              </a:lnSpc>
              <a:buNone/>
            </a:pPr>
            <a:r>
              <a:rPr lang="en-US" sz="1950" dirty="0">
                <a:solidFill>
                  <a:srgbClr val="D6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middleware, sanitiser and classifier, risk formula, capability tokens, Razorpay manual-capture flow, audit log, live feed, demo merchant pages and the browser-use agent.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15500" y="7883843"/>
            <a:ext cx="8172450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1800" kern="0" spc="288" dirty="0">
                <a:solidFill>
                  <a:srgbClr val="94B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TO COME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15500" y="8352473"/>
            <a:ext cx="7652385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365"/>
              </a:lnSpc>
              <a:buNone/>
            </a:pPr>
            <a:r>
              <a:rPr lang="en-US" sz="1950" dirty="0">
                <a:solidFill>
                  <a:srgbClr val="D6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Expo mobile app and the merchant dashboard, both of which consume the same live feed and audit endpoint shown here.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545</Words>
  <Application>Microsoft Office PowerPoint</Application>
  <PresentationFormat>Custom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Shreenidhi Gopalakrishnan</cp:lastModifiedBy>
  <cp:revision>1</cp:revision>
  <dcterms:created xsi:type="dcterms:W3CDTF">2026-09-05T12:51:58Z</dcterms:created>
  <dcterms:modified xsi:type="dcterms:W3CDTF">2026-09-05T13:07:46Z</dcterms:modified>
</cp:coreProperties>
</file>